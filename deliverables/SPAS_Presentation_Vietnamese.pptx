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3" r:id="rId1"/>
  </p:sldMasterIdLst>
  <p:notesMasterIdLst>
    <p:notesMasterId r:id="rId6"/>
  </p:notesMasterIdLst>
  <p:sldIdLst>
    <p:sldId id="790" r:id="rId2"/>
    <p:sldId id="791" r:id="rId3"/>
    <p:sldId id="793" r:id="rId25"/>
    <p:sldId id="794" r:id="rId26"/>
    <p:sldId id="795" r:id="rId27"/>
    <p:sldId id="796" r:id="rId28"/>
    <p:sldId id="797" r:id="rId29"/>
    <p:sldId id="798" r:id="rId30"/>
    <p:sldId id="799" r:id="rId31"/>
    <p:sldId id="800" r:id="rId32"/>
    <p:sldId id="801" r:id="rId33"/>
    <p:sldId id="802" r:id="rId34"/>
    <p:sldId id="803" r:id="rId35"/>
    <p:sldId id="804" r:id="rId36"/>
    <p:sldId id="805" r:id="rId37"/>
    <p:sldId id="806" r:id="rId38"/>
    <p:sldId id="807" r:id="rId39"/>
  </p:sldIdLst>
  <p:sldSz cx="9902825" cy="6858000"/>
  <p:notesSz cx="6858000" cy="9144000"/>
  <p:embeddedFontLst>
    <p:embeddedFont>
      <p:font typeface="Samsung Sharp Sans Bold" pitchFamily="2" charset="0"/>
      <p:bold r:id="rId7"/>
    </p:embeddedFont>
    <p:embeddedFont>
      <p:font typeface="Samsung Sharp Sans" pitchFamily="2" charset="0"/>
      <p:bold r:id="rId8"/>
    </p:embeddedFont>
    <p:embeddedFont>
      <p:font typeface="SamsungOneKorean 400" panose="020B0503030303020204" pitchFamily="50" charset="-127"/>
      <p:regular r:id="rId9"/>
    </p:embeddedFont>
    <p:embeddedFont>
      <p:font typeface="맑은 고딕" panose="020B0503020000020004" pitchFamily="50" charset="-127"/>
      <p:regular r:id="rId10"/>
      <p:bold r:id="rId11"/>
    </p:embeddedFont>
    <p:embeddedFont>
      <p:font typeface="SamsungOne 700" panose="020B0803030303020204" pitchFamily="34" charset="0"/>
      <p:bold r:id="rId12"/>
    </p:embeddedFont>
    <p:embeddedFont>
      <p:font typeface="SamsungOne 400C" panose="020B0506030303020204" pitchFamily="34" charset="0"/>
      <p:regular r:id="rId13"/>
    </p:embeddedFont>
    <p:embeddedFont>
      <p:font typeface="Samsung Sharp Sans Medium" pitchFamily="2" charset="0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SamsungOne 400" panose="020B0503030303020204" pitchFamily="34" charset="0"/>
      <p:regular r:id="rId19"/>
    </p:embeddedFont>
    <p:embeddedFont>
      <p:font typeface="Arial Unicode MS" panose="020B0604020202020204" pitchFamily="50" charset="-127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1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EB0"/>
    <a:srgbClr val="FFB546"/>
    <a:srgbClr val="FF4337"/>
    <a:srgbClr val="00B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3" autoAdjust="0"/>
    <p:restoredTop sz="72205" autoAdjust="0"/>
  </p:normalViewPr>
  <p:slideViewPr>
    <p:cSldViewPr snapToGrid="0">
      <p:cViewPr>
        <p:scale>
          <a:sx n="110" d="100"/>
          <a:sy n="110" d="100"/>
        </p:scale>
        <p:origin x="1428" y="240"/>
      </p:cViewPr>
      <p:guideLst>
        <p:guide pos="3119"/>
        <p:guide orient="horz" pos="216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57C17-E6FD-4AF5-A787-31E9CCE99A85}" type="datetimeFigureOut">
              <a:rPr lang="ko-KR" altLang="en-US" smtClean="0"/>
              <a:t>2023-09-05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9C55F-00F1-4985-9065-F2D92AE05D0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1253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>
            <a:extLst>
              <a:ext uri="{FF2B5EF4-FFF2-40B4-BE49-F238E27FC236}">
                <a16:creationId xmlns=""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=""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=""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15" name="슬라이드 번호 개체 틀 15">
            <a:extLst>
              <a:ext uri="{FF2B5EF4-FFF2-40B4-BE49-F238E27FC236}">
                <a16:creationId xmlns="" xmlns:a16="http://schemas.microsoft.com/office/drawing/2014/main" id="{CCEC8F59-794B-4743-A6D7-1BC9720006CB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956667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82022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</p:spPr>
      </p:pic>
      <p:sp>
        <p:nvSpPr>
          <p:cNvPr id="7" name="직사각형 133">
            <a:extLst>
              <a:ext uri="{FF2B5EF4-FFF2-40B4-BE49-F238E27FC236}">
                <a16:creationId xmlns="" xmlns:a16="http://schemas.microsoft.com/office/drawing/2014/main" id="{DE8CAD59-3F29-4FBB-AE0A-697DDFD5E69E}"/>
              </a:ext>
            </a:extLst>
          </p:cNvPr>
          <p:cNvSpPr/>
          <p:nvPr userDrawn="1"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914400" latinLnBrk="1">
              <a:defRPr/>
            </a:pPr>
            <a:r>
              <a:rPr lang="en-US" altLang="ko-KR" sz="24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Big</a:t>
            </a:r>
            <a:r>
              <a:rPr lang="ko-KR" altLang="en-US" sz="24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 </a:t>
            </a:r>
            <a:r>
              <a:rPr lang="en-US" altLang="ko-KR" sz="24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Data</a:t>
            </a:r>
            <a:r>
              <a:rPr lang="ko-KR" altLang="en-US" sz="24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 </a:t>
            </a:r>
            <a:r>
              <a:rPr lang="en-US" altLang="ko-KR" sz="24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Course</a:t>
            </a:r>
            <a:endParaRPr lang="ko-KR" altLang="en-US" sz="24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86149771-D78D-40D7-8B97-564358008D8D}"/>
              </a:ext>
            </a:extLst>
          </p:cNvPr>
          <p:cNvSpPr/>
          <p:nvPr userDrawn="1"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1" name="텍스트 개체 틀 18">
            <a:extLst>
              <a:ext uri="{FF2B5EF4-FFF2-40B4-BE49-F238E27FC236}">
                <a16:creationId xmlns="" xmlns:a16="http://schemas.microsoft.com/office/drawing/2014/main" id="{02AC410D-7805-4DA9-915F-991D726861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Team Name</a:t>
            </a:r>
            <a:endParaRPr lang="ko-KR" altLang="en-US" dirty="0"/>
          </a:p>
        </p:txBody>
      </p:sp>
      <p:sp>
        <p:nvSpPr>
          <p:cNvPr id="12" name="제목 2">
            <a:extLst>
              <a:ext uri="{FF2B5EF4-FFF2-40B4-BE49-F238E27FC236}">
                <a16:creationId xmlns="" xmlns:a16="http://schemas.microsoft.com/office/drawing/2014/main" id="{44AF0917-EEBC-44C5-8BA6-F1CA2AFA4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80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Project</a:t>
            </a:r>
            <a:r>
              <a:rPr lang="ko-KR" altLang="en-US" dirty="0"/>
              <a:t>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229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=""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=""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=""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7" name="직사각형 133">
            <a:extLst>
              <a:ext uri="{FF2B5EF4-FFF2-40B4-BE49-F238E27FC236}">
                <a16:creationId xmlns="" xmlns:a16="http://schemas.microsoft.com/office/drawing/2014/main" id="{7A4BCBFF-5289-45FE-BA09-DFF42AF8A347}"/>
              </a:ext>
            </a:extLst>
          </p:cNvPr>
          <p:cNvSpPr/>
          <p:nvPr userDrawn="1"/>
        </p:nvSpPr>
        <p:spPr>
          <a:xfrm>
            <a:off x="990000" y="4157757"/>
            <a:ext cx="2641721" cy="323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457200">
              <a:defRPr/>
            </a:pPr>
            <a:r>
              <a:rPr lang="en-US" altLang="ko-KR" sz="21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Big Data Course</a:t>
            </a:r>
            <a:endParaRPr lang="ko-KR" altLang="en-US" sz="21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="" xmlns:a16="http://schemas.microsoft.com/office/drawing/2014/main" id="{4AA6CFBD-D9B3-4245-A68B-1D7EC1CB6F07}"/>
              </a:ext>
            </a:extLst>
          </p:cNvPr>
          <p:cNvSpPr/>
          <p:nvPr userDrawn="1"/>
        </p:nvSpPr>
        <p:spPr>
          <a:xfrm>
            <a:off x="720000" y="2095275"/>
            <a:ext cx="60008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="" xmlns:a16="http://schemas.microsoft.com/office/drawing/2014/main" id="{1B2EB59A-603F-4715-ABA1-D9DF69D44512}"/>
              </a:ext>
            </a:extLst>
          </p:cNvPr>
          <p:cNvSpPr/>
          <p:nvPr userDrawn="1"/>
        </p:nvSpPr>
        <p:spPr>
          <a:xfrm>
            <a:off x="720000" y="4157757"/>
            <a:ext cx="60008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="" xmlns:a16="http://schemas.microsoft.com/office/drawing/2014/main" id="{CF6BC111-C555-4B09-8375-33C4F4C2FB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000" y="2095275"/>
            <a:ext cx="5221019" cy="13542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40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Project</a:t>
            </a:r>
            <a:r>
              <a:rPr lang="ko-KR" altLang="en-US" dirty="0"/>
              <a:t>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Name</a:t>
            </a:r>
            <a:endParaRPr lang="ko-KR" altLang="en-US" dirty="0"/>
          </a:p>
        </p:txBody>
      </p:sp>
      <p:sp>
        <p:nvSpPr>
          <p:cNvPr id="17" name="텍스트 개체 틀 18">
            <a:extLst>
              <a:ext uri="{FF2B5EF4-FFF2-40B4-BE49-F238E27FC236}">
                <a16:creationId xmlns="" xmlns:a16="http://schemas.microsoft.com/office/drawing/2014/main" id="{CBEAE583-0BAA-455B-9555-B00A4FE8B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0000" y="3577645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Team 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0312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 userDrawn="1">
          <p15:clr>
            <a:srgbClr val="FBAE40"/>
          </p15:clr>
        </p15:guide>
        <p15:guide id="2" pos="443" userDrawn="1">
          <p15:clr>
            <a:srgbClr val="FBAE40"/>
          </p15:clr>
        </p15:guide>
        <p15:guide id="3" pos="5955">
          <p15:clr>
            <a:srgbClr val="FBAE40"/>
          </p15:clr>
        </p15:guide>
        <p15:guide id="4" pos="60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=""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=""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=""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3" name="제목 2">
            <a:extLst>
              <a:ext uri="{FF2B5EF4-FFF2-40B4-BE49-F238E27FC236}">
                <a16:creationId xmlns="" xmlns:a16="http://schemas.microsoft.com/office/drawing/2014/main" id="{4625E1FE-2B04-4D8E-A51A-6B9CEC7B3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468" y="1440000"/>
            <a:ext cx="8541187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spcBef>
                <a:spcPts val="0"/>
              </a:spcBef>
              <a:defRPr lang="ko-KR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Slide Title</a:t>
            </a:r>
            <a:endParaRPr lang="ko-KR" altLang="en-US" dirty="0"/>
          </a:p>
        </p:txBody>
      </p:sp>
      <p:sp>
        <p:nvSpPr>
          <p:cNvPr id="19" name="텍스트 개체 틀 18">
            <a:extLst>
              <a:ext uri="{FF2B5EF4-FFF2-40B4-BE49-F238E27FC236}">
                <a16:creationId xmlns="" xmlns:a16="http://schemas.microsoft.com/office/drawing/2014/main" id="{DFEC8C6A-D95C-4B3C-9803-6F9071BF0C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20" name="텍스트 개체 틀 18">
            <a:extLst>
              <a:ext uri="{FF2B5EF4-FFF2-40B4-BE49-F238E27FC236}">
                <a16:creationId xmlns="" xmlns:a16="http://schemas.microsoft.com/office/drawing/2014/main" id="{6DA22BCA-E7E2-4377-AD8E-AC1336C3DB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Subtitle</a:t>
            </a:r>
            <a:endParaRPr lang="ko-KR" altLang="en-US" dirty="0"/>
          </a:p>
        </p:txBody>
      </p:sp>
      <p:sp>
        <p:nvSpPr>
          <p:cNvPr id="21" name="텍스트 개체 틀 18">
            <a:extLst>
              <a:ext uri="{FF2B5EF4-FFF2-40B4-BE49-F238E27FC236}">
                <a16:creationId xmlns="" xmlns:a16="http://schemas.microsoft.com/office/drawing/2014/main" id="{7647BD6A-5F13-45AE-859C-AF2BA0A739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12825" y="480779"/>
            <a:ext cx="34062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lvl="0" algn="r" defTabSz="457063" latinLnBrk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3" name="텍스트 개체 틀 18">
            <a:extLst>
              <a:ext uri="{FF2B5EF4-FFF2-40B4-BE49-F238E27FC236}">
                <a16:creationId xmlns="" xmlns:a16="http://schemas.microsoft.com/office/drawing/2014/main" id="{3A9667F7-80AD-4A7A-8543-285975B06B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40667" y="480779"/>
            <a:ext cx="467850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16" name="텍스트 개체 틀 7">
            <a:extLst>
              <a:ext uri="{FF2B5EF4-FFF2-40B4-BE49-F238E27FC236}">
                <a16:creationId xmlns="" xmlns:a16="http://schemas.microsoft.com/office/drawing/2014/main" id="{B6D584F0-F100-4FB4-B935-0E81DB1D3B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2221661"/>
            <a:ext cx="8055439" cy="914400"/>
          </a:xfrm>
          <a:prstGeom prst="rect">
            <a:avLst/>
          </a:prstGeom>
        </p:spPr>
        <p:txBody>
          <a:bodyPr lIns="0" tIns="0" rIns="0" bIns="0"/>
          <a:lstStyle>
            <a:lvl1pPr marL="177747" indent="-177747">
              <a:lnSpc>
                <a:spcPts val="1800"/>
              </a:lnSpc>
              <a:buSzPct val="105000"/>
              <a:buFontTx/>
              <a:buBlip>
                <a:blip r:embed="rId3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>
              <a:lnSpc>
                <a:spcPts val="1800"/>
              </a:lnSpc>
              <a:buSzPct val="80000"/>
              <a:buFontTx/>
              <a:buBlip>
                <a:blip r:embed="rId4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</a:lstStyle>
          <a:p>
            <a:pPr lvl="0"/>
            <a:r>
              <a:rPr lang="en-US" altLang="ko-KR" dirty="0"/>
              <a:t>Level1</a:t>
            </a:r>
          </a:p>
          <a:p>
            <a:pPr lvl="1"/>
            <a:r>
              <a:rPr lang="en-US" altLang="ko-KR" dirty="0"/>
              <a:t>Level2</a:t>
            </a:r>
          </a:p>
          <a:p>
            <a:pPr lvl="1"/>
            <a:endParaRPr lang="en-US" altLang="ko-KR" dirty="0"/>
          </a:p>
          <a:p>
            <a:pPr marL="628461" lvl="1" indent="-207901" algn="l" defTabSz="843830" rtl="0" eaLnBrk="1" latinLnBrk="1" hangingPunct="1">
              <a:lnSpc>
                <a:spcPct val="90000"/>
              </a:lnSpc>
              <a:spcBef>
                <a:spcPts val="462"/>
              </a:spcBef>
              <a:buSzPct val="90000"/>
              <a:buFontTx/>
              <a:buBlip>
                <a:blip r:embed="rId5"/>
              </a:buBlip>
            </a:pP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="" xmlns:a16="http://schemas.microsoft.com/office/drawing/2014/main" id="{D63EAE99-E447-4D3D-BFEE-6F01BCEB93C6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102046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 userDrawn="1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=""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=""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=""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="" xmlns:a16="http://schemas.microsoft.com/office/drawing/2014/main" id="{D63EAE99-E447-4D3D-BFEE-6F01BCEB93C6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34159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 of 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=""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=""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=""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</p:spTree>
    <p:extLst>
      <p:ext uri="{BB962C8B-B14F-4D97-AF65-F5344CB8AC3E}">
        <p14:creationId xmlns:p14="http://schemas.microsoft.com/office/powerpoint/2010/main" val="1779621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=""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=""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=""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7" name="슬라이드 번호 개체 틀 15">
            <a:extLst>
              <a:ext uri="{FF2B5EF4-FFF2-40B4-BE49-F238E27FC236}">
                <a16:creationId xmlns="" xmlns:a16="http://schemas.microsoft.com/office/drawing/2014/main" id="{E75758B0-2429-4331-898E-5EEED60D4280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942502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=""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슬라이드 번호 개체 틀 15">
            <a:extLst>
              <a:ext uri="{FF2B5EF4-FFF2-40B4-BE49-F238E27FC236}">
                <a16:creationId xmlns=""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8" name="직사각형 7">
            <a:extLst>
              <a:ext uri="{FF2B5EF4-FFF2-40B4-BE49-F238E27FC236}">
                <a16:creationId xmlns=""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449468" y="900000"/>
            <a:ext cx="9000714" cy="0"/>
          </a:xfrm>
          <a:prstGeom prst="line">
            <a:avLst/>
          </a:prstGeom>
          <a:ln w="15875">
            <a:solidFill>
              <a:srgbClr val="092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5">
            <a:extLst>
              <a:ext uri="{FF2B5EF4-FFF2-40B4-BE49-F238E27FC236}">
                <a16:creationId xmlns="" xmlns:a16="http://schemas.microsoft.com/office/drawing/2014/main" id="{C5960DC7-D671-485D-92B0-FEED6CE658A3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343950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2">
            <a:extLst>
              <a:ext uri="{FF2B5EF4-FFF2-40B4-BE49-F238E27FC236}">
                <a16:creationId xmlns="" xmlns:a16="http://schemas.microsoft.com/office/drawing/2014/main" id="{C441AFAB-5BBF-465C-B7A8-FED86E6261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395"/>
            <a:ext cx="9899651" cy="6853605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9" dirty="0"/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782B242C-8600-47F0-98D5-6EA512C41BF2}"/>
              </a:ext>
            </a:extLst>
          </p:cNvPr>
          <p:cNvSpPr/>
          <p:nvPr userDrawn="1"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" panose="020B0503030303020204" pitchFamily="34" charset="0"/>
                <a:cs typeface="+mn-cs"/>
              </a:rPr>
              <a:t>ⓒ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2023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SAMSUNG. All rights reserved.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Samsung Electronics Corporate Citizenship Office holds the copyright of book.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This book is a literary property protected by copyright law so reprint and reproduction without permission are prohibited. 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To use this book other than the curriculum of Samsung 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Innovation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Campus or to use the entire or part of this book, you must receive written consent from copyright holder.</a:t>
            </a:r>
          </a:p>
        </p:txBody>
      </p:sp>
      <p:pic>
        <p:nvPicPr>
          <p:cNvPr id="10" name="그림 3">
            <a:extLst>
              <a:ext uri="{FF2B5EF4-FFF2-40B4-BE49-F238E27FC236}">
                <a16:creationId xmlns="" xmlns:a16="http://schemas.microsoft.com/office/drawing/2014/main" id="{A977D3D7-ABF1-4BDD-B1E5-CCA79CC818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822" y="3022951"/>
            <a:ext cx="2476006" cy="812098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=""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90568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</p:spTree>
    <p:extLst>
      <p:ext uri="{BB962C8B-B14F-4D97-AF65-F5344CB8AC3E}">
        <p14:creationId xmlns:p14="http://schemas.microsoft.com/office/powerpoint/2010/main" val="1227834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od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5" name="Freeform 5">
            <a:extLst>
              <a:ext uri="{FF2B5EF4-FFF2-40B4-BE49-F238E27FC236}">
                <a16:creationId xmlns=""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82022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426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928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1" r:id="rId2"/>
    <p:sldLayoutId id="2147483685" r:id="rId3"/>
    <p:sldLayoutId id="2147483687" r:id="rId4"/>
    <p:sldLayoutId id="2147483694" r:id="rId5"/>
    <p:sldLayoutId id="2147483693" r:id="rId6"/>
    <p:sldLayoutId id="2147483686" r:id="rId7"/>
    <p:sldLayoutId id="2147483688" r:id="rId8"/>
    <p:sldLayoutId id="2147483689" r:id="rId9"/>
    <p:sldLayoutId id="2147483690" r:id="rId10"/>
  </p:sldLayoutIdLst>
  <p:txStyles>
    <p:titleStyle>
      <a:lvl1pPr algn="l" defTabSz="914126" rtl="0" eaLnBrk="1" latinLnBrk="1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9ABA57D5-7920-4C59-8990-1FDF22441F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SIC AI Team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="" xmlns:a16="http://schemas.microsoft.com/office/drawing/2014/main" id="{51786819-9BFB-478D-BAE7-57DB1DEA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710000"/>
            <a:ext cx="5221019" cy="1477328"/>
          </a:xfrm>
        </p:spPr>
        <p:txBody>
          <a:bodyPr/>
          <a:lstStyle/>
          <a:p>
            <a:r>
              <a:t>Smart Passive Attendance System</a:t>
            </a:r>
          </a:p>
        </p:txBody>
      </p:sp>
    </p:spTree>
    <p:extLst>
      <p:ext uri="{BB962C8B-B14F-4D97-AF65-F5344CB8AC3E}">
        <p14:creationId xmlns:p14="http://schemas.microsoft.com/office/powerpoint/2010/main" val="400912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">
            <a:extLst>
              <a:ext uri="{FF2B5EF4-FFF2-40B4-BE49-F238E27FC236}">
                <a16:creationId xmlns="" xmlns:a16="http://schemas.microsoft.com/office/drawing/2014/main" id="{1E42F3CA-E8F5-41D4-A677-F15543C46B01}"/>
              </a:ext>
            </a:extLst>
          </p:cNvPr>
          <p:cNvGrpSpPr/>
          <p:nvPr/>
        </p:nvGrpSpPr>
        <p:grpSpPr>
          <a:xfrm>
            <a:off x="710836" y="1892040"/>
            <a:ext cx="4379913" cy="1216982"/>
            <a:chOff x="4181256" y="3224809"/>
            <a:chExt cx="4379913" cy="1216982"/>
          </a:xfrm>
        </p:grpSpPr>
        <p:sp>
          <p:nvSpPr>
            <p:cNvPr id="5" name="직사각형 4">
              <a:extLst>
                <a:ext uri="{FF2B5EF4-FFF2-40B4-BE49-F238E27FC236}">
                  <a16:creationId xmlns="" xmlns:a16="http://schemas.microsoft.com/office/drawing/2014/main" id="{EEA224A4-F527-4CB0-B62E-359CBCD4E781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Unit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1. Title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="" xmlns:a16="http://schemas.microsoft.com/office/drawing/2014/main" id="{F55CBCEC-393B-4E62-A937-E41B3CD7A93E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="" xmlns:a16="http://schemas.microsoft.com/office/drawing/2014/main" id="{276F31AB-CE0B-4C60-A822-96C574A8736B}"/>
                </a:ext>
              </a:extLst>
            </p:cNvPr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1.1. Subtitle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1.2. Subtitle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1.3. Subtitle</a:t>
              </a:r>
            </a:p>
          </p:txBody>
        </p:sp>
      </p:grpSp>
      <p:grpSp>
        <p:nvGrpSpPr>
          <p:cNvPr id="8" name="Group 1">
            <a:extLst>
              <a:ext uri="{FF2B5EF4-FFF2-40B4-BE49-F238E27FC236}">
                <a16:creationId xmlns="" xmlns:a16="http://schemas.microsoft.com/office/drawing/2014/main" id="{730BB671-9743-4819-9105-2FF86D4E0E36}"/>
              </a:ext>
            </a:extLst>
          </p:cNvPr>
          <p:cNvGrpSpPr/>
          <p:nvPr/>
        </p:nvGrpSpPr>
        <p:grpSpPr>
          <a:xfrm>
            <a:off x="710836" y="3266753"/>
            <a:ext cx="4379913" cy="1216982"/>
            <a:chOff x="4181256" y="3224809"/>
            <a:chExt cx="4379913" cy="1216982"/>
          </a:xfrm>
        </p:grpSpPr>
        <p:sp>
          <p:nvSpPr>
            <p:cNvPr id="9" name="직사각형 37">
              <a:extLst>
                <a:ext uri="{FF2B5EF4-FFF2-40B4-BE49-F238E27FC236}">
                  <a16:creationId xmlns="" xmlns:a16="http://schemas.microsoft.com/office/drawing/2014/main" id="{44B7DD30-17C5-4D7E-8AC2-EA4E01FBA36D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Unit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2. Title</a:t>
              </a:r>
            </a:p>
          </p:txBody>
        </p:sp>
        <p:sp>
          <p:nvSpPr>
            <p:cNvPr id="10" name="직사각형 38">
              <a:extLst>
                <a:ext uri="{FF2B5EF4-FFF2-40B4-BE49-F238E27FC236}">
                  <a16:creationId xmlns="" xmlns:a16="http://schemas.microsoft.com/office/drawing/2014/main" id="{0544C2E7-AEB2-4C9F-BC7B-16A176B1A6CD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/>
            </a:p>
          </p:txBody>
        </p:sp>
        <p:sp>
          <p:nvSpPr>
            <p:cNvPr id="11" name="직사각형 39">
              <a:extLst>
                <a:ext uri="{FF2B5EF4-FFF2-40B4-BE49-F238E27FC236}">
                  <a16:creationId xmlns="" xmlns:a16="http://schemas.microsoft.com/office/drawing/2014/main" id="{8FF9FD52-A1FA-45F7-80A2-FC3AF69D82B2}"/>
                </a:ext>
              </a:extLst>
            </p:cNvPr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2.1. Subtitle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2.2. Subtitle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2.3. Subtitle</a:t>
              </a:r>
            </a:p>
          </p:txBody>
        </p:sp>
      </p:grpSp>
      <p:grpSp>
        <p:nvGrpSpPr>
          <p:cNvPr id="12" name="Group 1">
            <a:extLst>
              <a:ext uri="{FF2B5EF4-FFF2-40B4-BE49-F238E27FC236}">
                <a16:creationId xmlns="" xmlns:a16="http://schemas.microsoft.com/office/drawing/2014/main" id="{99E1C113-2E13-42D7-B0BA-4B851632AACF}"/>
              </a:ext>
            </a:extLst>
          </p:cNvPr>
          <p:cNvGrpSpPr/>
          <p:nvPr/>
        </p:nvGrpSpPr>
        <p:grpSpPr>
          <a:xfrm>
            <a:off x="710836" y="4641466"/>
            <a:ext cx="4379913" cy="1216982"/>
            <a:chOff x="4181256" y="3224809"/>
            <a:chExt cx="4379913" cy="1216982"/>
          </a:xfrm>
        </p:grpSpPr>
        <p:sp>
          <p:nvSpPr>
            <p:cNvPr id="13" name="직사각형 37">
              <a:extLst>
                <a:ext uri="{FF2B5EF4-FFF2-40B4-BE49-F238E27FC236}">
                  <a16:creationId xmlns="" xmlns:a16="http://schemas.microsoft.com/office/drawing/2014/main" id="{B347DB6E-48AB-4ECB-AF93-4C89FBDF1471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Unit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3. Title</a:t>
              </a:r>
            </a:p>
          </p:txBody>
        </p:sp>
        <p:sp>
          <p:nvSpPr>
            <p:cNvPr id="14" name="직사각형 38">
              <a:extLst>
                <a:ext uri="{FF2B5EF4-FFF2-40B4-BE49-F238E27FC236}">
                  <a16:creationId xmlns="" xmlns:a16="http://schemas.microsoft.com/office/drawing/2014/main" id="{0B90DCE9-673D-4E88-91C4-A7B10F5EEAE4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/>
            </a:p>
          </p:txBody>
        </p:sp>
        <p:sp>
          <p:nvSpPr>
            <p:cNvPr id="15" name="직사각형 39">
              <a:extLst>
                <a:ext uri="{FF2B5EF4-FFF2-40B4-BE49-F238E27FC236}">
                  <a16:creationId xmlns="" xmlns:a16="http://schemas.microsoft.com/office/drawing/2014/main" id="{2825410F-2C46-47C0-A8BD-61DC6D753D88}"/>
                </a:ext>
              </a:extLst>
            </p:cNvPr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3.1. Subtitle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3.2. Subtitle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3.3. Subtitle</a:t>
              </a:r>
            </a:p>
          </p:txBody>
        </p:sp>
      </p:grpSp>
      <p:sp>
        <p:nvSpPr>
          <p:cNvPr id="16" name="직사각형 133">
            <a:extLst>
              <a:ext uri="{FF2B5EF4-FFF2-40B4-BE49-F238E27FC236}">
                <a16:creationId xmlns="" xmlns:a16="http://schemas.microsoft.com/office/drawing/2014/main" id="{71B9AA9E-B863-4155-9637-87088D8ED43A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r>
              <a:rPr lang="en-US" altLang="ko-KR" sz="2400" dirty="0" smtClean="0">
                <a:solidFill>
                  <a:schemeClr val="bg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Smart Passive Attendance System</a:t>
            </a:r>
            <a:endParaRPr lang="en-US" altLang="ko-KR" sz="2400" dirty="0">
              <a:solidFill>
                <a:schemeClr val="bg1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471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Slide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1.1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Subtitle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=""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/>
              <a:t>Level-1</a:t>
            </a:r>
            <a:endParaRPr lang="en-US" altLang="ko-KR" dirty="0"/>
          </a:p>
          <a:p>
            <a:pPr lvl="1"/>
            <a:r>
              <a:rPr lang="en-US" altLang="ko-KR" dirty="0" smtClean="0"/>
              <a:t>Level-2</a:t>
            </a:r>
            <a:endParaRPr lang="ko-KR" altLang="en-US" dirty="0"/>
          </a:p>
        </p:txBody>
      </p:sp>
      <p:sp>
        <p:nvSpPr>
          <p:cNvPr id="8" name="Speech Bubble: Rectangle 3">
            <a:extLst>
              <a:ext uri="{FF2B5EF4-FFF2-40B4-BE49-F238E27FC236}">
                <a16:creationId xmlns="" xmlns:a16="http://schemas.microsoft.com/office/drawing/2014/main" id="{E80EB278-3D10-47EF-9C4C-A281925E1178}"/>
              </a:ext>
            </a:extLst>
          </p:cNvPr>
          <p:cNvSpPr/>
          <p:nvPr/>
        </p:nvSpPr>
        <p:spPr>
          <a:xfrm>
            <a:off x="5793967" y="5268499"/>
            <a:ext cx="2881575" cy="954970"/>
          </a:xfrm>
          <a:prstGeom prst="wedgeRectCallout">
            <a:avLst>
              <a:gd name="adj1" fmla="val 49389"/>
              <a:gd name="adj2" fmla="val 711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</a:rPr>
              <a:t>Please edit project name and page number in slide 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master.</a:t>
            </a:r>
            <a:endParaRPr lang="en-US" altLang="ko-KR" sz="14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462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6206736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Bài toán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SPAS - Smart Passive Attendance System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AI COURSE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=""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Điểm danh thủ công mất thời gian</a:t>
            </a:r>
          </a:p>
          <a:p>
            <a:r>
              <a:t>Khó kiểm tra khi có tranh chấp</a:t>
            </a:r>
          </a:p>
          <a:p>
            <a:r>
              <a:t>Mục tiêu: AI tạo kết quả và ảnh minh chứng</a:t>
            </a:r>
          </a:p>
        </p:txBody>
      </p:sp>
      <p:sp>
        <p:nvSpPr>
          <p:cNvPr id="8" name="Speech Bubble: Rectangle 3">
            <a:extLst>
              <a:ext uri="{FF2B5EF4-FFF2-40B4-BE49-F238E27FC236}">
                <a16:creationId xmlns="" xmlns:a16="http://schemas.microsoft.com/office/drawing/2014/main" id="{E80EB278-3D10-47EF-9C4C-A281925E1178}"/>
              </a:ext>
            </a:extLst>
          </p:cNvPr>
          <p:cNvSpPr/>
          <p:nvPr/>
        </p:nvSpPr>
        <p:spPr>
          <a:xfrm>
            <a:off x="5793967" y="5268499"/>
            <a:ext cx="2881575" cy="954970"/>
          </a:xfrm>
          <a:prstGeom prst="wedgeRectCallout">
            <a:avLst>
              <a:gd name="adj1" fmla="val 49389"/>
              <a:gd name="adj2" fmla="val 711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Mục tiêu MVP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SPAS - Smart Passive Attendance System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AI COURSE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=""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Đăng ký khuôn mặt</a:t>
            </a:r>
          </a:p>
          <a:p>
            <a:r>
              <a:t>Điểm danh theo roster lớp</a:t>
            </a:r>
          </a:p>
          <a:p>
            <a:r>
              <a:t>Từ chối UNKNOWN</a:t>
            </a:r>
          </a:p>
          <a:p>
            <a:r>
              <a:t>Giáo viên xem và sửa kết quả</a:t>
            </a:r>
          </a:p>
        </p:txBody>
      </p:sp>
      <p:sp>
        <p:nvSpPr>
          <p:cNvPr id="8" name="Speech Bubble: Rectangle 3">
            <a:extLst>
              <a:ext uri="{FF2B5EF4-FFF2-40B4-BE49-F238E27FC236}">
                <a16:creationId xmlns="" xmlns:a16="http://schemas.microsoft.com/office/drawing/2014/main" id="{E80EB278-3D10-47EF-9C4C-A281925E1178}"/>
              </a:ext>
            </a:extLst>
          </p:cNvPr>
          <p:cNvSpPr/>
          <p:nvPr/>
        </p:nvSpPr>
        <p:spPr>
          <a:xfrm>
            <a:off x="5793967" y="5268499"/>
            <a:ext cx="2881575" cy="954970"/>
          </a:xfrm>
          <a:prstGeom prst="wedgeRectCallout">
            <a:avLst>
              <a:gd name="adj1" fmla="val 49389"/>
              <a:gd name="adj2" fmla="val 711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Kiến trúc hệ thống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SPAS - Smart Passive Attendance System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AI COURSE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=""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Frontend gọi Backend</a:t>
            </a:r>
          </a:p>
          <a:p>
            <a:r>
              <a:t>Backend gọi AI service nội bộ</a:t>
            </a:r>
          </a:p>
          <a:p>
            <a:r>
              <a:t>AI chạy YOLO11n và FaceNet 512D</a:t>
            </a:r>
          </a:p>
          <a:p>
            <a:r>
              <a:t>Backend lưu attendance và evidence</a:t>
            </a:r>
          </a:p>
        </p:txBody>
      </p:sp>
      <p:sp>
        <p:nvSpPr>
          <p:cNvPr id="8" name="Speech Bubble: Rectangle 3">
            <a:extLst>
              <a:ext uri="{FF2B5EF4-FFF2-40B4-BE49-F238E27FC236}">
                <a16:creationId xmlns="" xmlns:a16="http://schemas.microsoft.com/office/drawing/2014/main" id="{E80EB278-3D10-47EF-9C4C-A281925E1178}"/>
              </a:ext>
            </a:extLst>
          </p:cNvPr>
          <p:cNvSpPr/>
          <p:nvPr/>
        </p:nvSpPr>
        <p:spPr>
          <a:xfrm>
            <a:off x="5793967" y="5268499"/>
            <a:ext cx="2881575" cy="954970"/>
          </a:xfrm>
          <a:prstGeom prst="wedgeRectCallout">
            <a:avLst>
              <a:gd name="adj1" fmla="val 49389"/>
              <a:gd name="adj2" fmla="val 711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Pipeline AI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SPAS - Smart Passive Attendance System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AI COURSE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=""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Ảnh camera</a:t>
            </a:r>
          </a:p>
          <a:p>
            <a:r>
              <a:t>YOLO11n tìm bounding box</a:t>
            </a:r>
          </a:p>
          <a:p>
            <a:r>
              <a:t>Crop và chuẩn hóa</a:t>
            </a:r>
          </a:p>
          <a:p>
            <a:r>
              <a:t>Embedding 512 chiều</a:t>
            </a:r>
          </a:p>
          <a:p>
            <a:r>
              <a:t>Cosine similarity với gallery</a:t>
            </a:r>
          </a:p>
        </p:txBody>
      </p:sp>
      <p:sp>
        <p:nvSpPr>
          <p:cNvPr id="8" name="Speech Bubble: Rectangle 3">
            <a:extLst>
              <a:ext uri="{FF2B5EF4-FFF2-40B4-BE49-F238E27FC236}">
                <a16:creationId xmlns="" xmlns:a16="http://schemas.microsoft.com/office/drawing/2014/main" id="{E80EB278-3D10-47EF-9C4C-A281925E1178}"/>
              </a:ext>
            </a:extLst>
          </p:cNvPr>
          <p:cNvSpPr/>
          <p:nvPr/>
        </p:nvSpPr>
        <p:spPr>
          <a:xfrm>
            <a:off x="5793967" y="5268499"/>
            <a:ext cx="2881575" cy="954970"/>
          </a:xfrm>
          <a:prstGeom prst="wedgeRectCallout">
            <a:avLst>
              <a:gd name="adj1" fmla="val 49389"/>
              <a:gd name="adj2" fmla="val 711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 1: YOLO11n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SPAS - Smart Passive Attendance System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AI COURSE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=""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Input: 640 × 640</a:t>
            </a:r>
          </a:p>
          <a:p>
            <a:r>
              <a:t>25 epoch, batch 8</a:t>
            </a:r>
          </a:p>
          <a:p>
            <a:r>
              <a:t>Output: box và confidence</a:t>
            </a:r>
          </a:p>
          <a:p>
            <a:r>
              <a:t>Precision, Recall, mAP50, mAP50-95</a:t>
            </a:r>
          </a:p>
        </p:txBody>
      </p:sp>
      <p:sp>
        <p:nvSpPr>
          <p:cNvPr id="8" name="Speech Bubble: Rectangle 3">
            <a:extLst>
              <a:ext uri="{FF2B5EF4-FFF2-40B4-BE49-F238E27FC236}">
                <a16:creationId xmlns="" xmlns:a16="http://schemas.microsoft.com/office/drawing/2014/main" id="{E80EB278-3D10-47EF-9C4C-A281925E1178}"/>
              </a:ext>
            </a:extLst>
          </p:cNvPr>
          <p:cNvSpPr/>
          <p:nvPr/>
        </p:nvSpPr>
        <p:spPr>
          <a:xfrm>
            <a:off x="5793967" y="5268499"/>
            <a:ext cx="2881575" cy="954970"/>
          </a:xfrm>
          <a:prstGeom prst="wedgeRectCallout">
            <a:avLst>
              <a:gd name="adj1" fmla="val 49389"/>
              <a:gd name="adj2" fmla="val 711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 2: FaceNet và ArcFace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SPAS - Smart Passive Attendance System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AI COURSE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=""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Input: 160 × 160</a:t>
            </a:r>
          </a:p>
          <a:p>
            <a:r>
              <a:t>InceptionResnetV1</a:t>
            </a:r>
          </a:p>
          <a:p>
            <a:r>
              <a:t>Embedding: 512 chiều</a:t>
            </a:r>
          </a:p>
          <a:p>
            <a:r>
              <a:t>ArcMarginProduct khi train</a:t>
            </a:r>
          </a:p>
          <a:p>
            <a:r>
              <a:t>Cosine similarity khi deploy</a:t>
            </a:r>
          </a:p>
        </p:txBody>
      </p:sp>
      <p:sp>
        <p:nvSpPr>
          <p:cNvPr id="8" name="Speech Bubble: Rectangle 3">
            <a:extLst>
              <a:ext uri="{FF2B5EF4-FFF2-40B4-BE49-F238E27FC236}">
                <a16:creationId xmlns="" xmlns:a16="http://schemas.microsoft.com/office/drawing/2014/main" id="{E80EB278-3D10-47EF-9C4C-A281925E1178}"/>
              </a:ext>
            </a:extLst>
          </p:cNvPr>
          <p:cNvSpPr/>
          <p:nvPr/>
        </p:nvSpPr>
        <p:spPr>
          <a:xfrm>
            <a:off x="5793967" y="5268499"/>
            <a:ext cx="2881575" cy="954970"/>
          </a:xfrm>
          <a:prstGeom prst="wedgeRectCallout">
            <a:avLst>
              <a:gd name="adj1" fmla="val 49389"/>
              <a:gd name="adj2" fmla="val 711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Dữ liệu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SPAS - Smart Passive Attendance System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AI COURSE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=""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YOLO: 12.880 train, 3.226 validation</a:t>
            </a:r>
          </a:p>
          <a:p>
            <a:r>
              <a:t>ArcFace: 1.500 identity</a:t>
            </a:r>
          </a:p>
          <a:p>
            <a:r>
              <a:t>Kiểm tra ảnh và label</a:t>
            </a:r>
          </a:p>
          <a:p>
            <a:r>
              <a:t>Có EDA trước training</a:t>
            </a:r>
          </a:p>
        </p:txBody>
      </p:sp>
      <p:sp>
        <p:nvSpPr>
          <p:cNvPr id="8" name="Speech Bubble: Rectangle 3">
            <a:extLst>
              <a:ext uri="{FF2B5EF4-FFF2-40B4-BE49-F238E27FC236}">
                <a16:creationId xmlns="" xmlns:a16="http://schemas.microsoft.com/office/drawing/2014/main" id="{E80EB278-3D10-47EF-9C4C-A281925E1178}"/>
              </a:ext>
            </a:extLst>
          </p:cNvPr>
          <p:cNvSpPr/>
          <p:nvPr/>
        </p:nvSpPr>
        <p:spPr>
          <a:xfrm>
            <a:off x="5793967" y="5268499"/>
            <a:ext cx="2881575" cy="954970"/>
          </a:xfrm>
          <a:prstGeom prst="wedgeRectCallout">
            <a:avLst>
              <a:gd name="adj1" fmla="val 49389"/>
              <a:gd name="adj2" fmla="val 711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Metric YOLO đã có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SPAS - Smart Passive Attendance System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08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AI COURSE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=""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Precision: 0.8253</a:t>
            </a:r>
          </a:p>
          <a:p>
            <a:r>
              <a:t>Recall: 0.5618</a:t>
            </a:r>
          </a:p>
          <a:p>
            <a:r>
              <a:t>mAP50: 0.6437</a:t>
            </a:r>
          </a:p>
          <a:p>
            <a:r>
              <a:t>mAP50-95: 0.3397</a:t>
            </a:r>
          </a:p>
        </p:txBody>
      </p:sp>
      <p:sp>
        <p:nvSpPr>
          <p:cNvPr id="8" name="Speech Bubble: Rectangle 3">
            <a:extLst>
              <a:ext uri="{FF2B5EF4-FFF2-40B4-BE49-F238E27FC236}">
                <a16:creationId xmlns="" xmlns:a16="http://schemas.microsoft.com/office/drawing/2014/main" id="{E80EB278-3D10-47EF-9C4C-A281925E1178}"/>
              </a:ext>
            </a:extLst>
          </p:cNvPr>
          <p:cNvSpPr/>
          <p:nvPr/>
        </p:nvSpPr>
        <p:spPr>
          <a:xfrm>
            <a:off x="5793967" y="5268499"/>
            <a:ext cx="2881575" cy="954970"/>
          </a:xfrm>
          <a:prstGeom prst="wedgeRectCallout">
            <a:avLst>
              <a:gd name="adj1" fmla="val 49389"/>
              <a:gd name="adj2" fmla="val 711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Metric ArcFace latest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09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SPAS - Smart Passive Attendance System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09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AI COURSE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=""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Validation Top-1: 0.8896</a:t>
            </a:r>
          </a:p>
          <a:p>
            <a:r>
              <a:t>Validation Top-5: 0.9208</a:t>
            </a:r>
          </a:p>
          <a:p>
            <a:r>
              <a:t>Gallery Top-1: 0.8801</a:t>
            </a:r>
          </a:p>
          <a:p>
            <a:r>
              <a:t>1.500 identity; 9.383 ảnh validation</a:t>
            </a:r>
          </a:p>
        </p:txBody>
      </p:sp>
      <p:sp>
        <p:nvSpPr>
          <p:cNvPr id="8" name="Speech Bubble: Rectangle 3">
            <a:extLst>
              <a:ext uri="{FF2B5EF4-FFF2-40B4-BE49-F238E27FC236}">
                <a16:creationId xmlns="" xmlns:a16="http://schemas.microsoft.com/office/drawing/2014/main" id="{E80EB278-3D10-47EF-9C4C-A281925E1178}"/>
              </a:ext>
            </a:extLst>
          </p:cNvPr>
          <p:cNvSpPr/>
          <p:nvPr/>
        </p:nvSpPr>
        <p:spPr>
          <a:xfrm>
            <a:off x="5793967" y="5268499"/>
            <a:ext cx="2881575" cy="954970"/>
          </a:xfrm>
          <a:prstGeom prst="wedgeRectCallout">
            <a:avLst>
              <a:gd name="adj1" fmla="val 49389"/>
              <a:gd name="adj2" fmla="val 711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Metric model hệ thống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SPAS - Smart Passive Attendance System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AI COURSE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=""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Dùng facenet_best.pt</a:t>
            </a:r>
          </a:p>
          <a:p>
            <a:r>
              <a:t>Leave-one-out Top-1: 0.9750</a:t>
            </a:r>
          </a:p>
          <a:p>
            <a:r>
              <a:t>Top-5: 1.0000; mean cosine: 0.7936</a:t>
            </a:r>
          </a:p>
          <a:p>
            <a:r>
              <a:t>Test nội bộ trên 40 enrollment frame</a:t>
            </a:r>
          </a:p>
        </p:txBody>
      </p:sp>
      <p:sp>
        <p:nvSpPr>
          <p:cNvPr id="8" name="Speech Bubble: Rectangle 3">
            <a:extLst>
              <a:ext uri="{FF2B5EF4-FFF2-40B4-BE49-F238E27FC236}">
                <a16:creationId xmlns="" xmlns:a16="http://schemas.microsoft.com/office/drawing/2014/main" id="{E80EB278-3D10-47EF-9C4C-A281925E1178}"/>
              </a:ext>
            </a:extLst>
          </p:cNvPr>
          <p:cNvSpPr/>
          <p:nvPr/>
        </p:nvSpPr>
        <p:spPr>
          <a:xfrm>
            <a:off x="5793967" y="5268499"/>
            <a:ext cx="2881575" cy="954970"/>
          </a:xfrm>
          <a:prstGeom prst="wedgeRectCallout">
            <a:avLst>
              <a:gd name="adj1" fmla="val 49389"/>
              <a:gd name="adj2" fmla="val 711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Luồng demo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SPAS - Smart Passive Attendance System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AI COURSE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=""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GV chọn lớp</a:t>
            </a:r>
          </a:p>
          <a:p>
            <a:r>
              <a:t>Mở camera và quét frame</a:t>
            </a:r>
          </a:p>
          <a:p>
            <a:r>
              <a:t>AI trả identity và score</a:t>
            </a:r>
          </a:p>
          <a:p>
            <a:r>
              <a:t>Backend ghi attendance</a:t>
            </a:r>
          </a:p>
          <a:p>
            <a:r>
              <a:t>GV xem evidence</a:t>
            </a:r>
          </a:p>
        </p:txBody>
      </p:sp>
      <p:sp>
        <p:nvSpPr>
          <p:cNvPr id="8" name="Speech Bubble: Rectangle 3">
            <a:extLst>
              <a:ext uri="{FF2B5EF4-FFF2-40B4-BE49-F238E27FC236}">
                <a16:creationId xmlns="" xmlns:a16="http://schemas.microsoft.com/office/drawing/2014/main" id="{E80EB278-3D10-47EF-9C4C-A281925E1178}"/>
              </a:ext>
            </a:extLst>
          </p:cNvPr>
          <p:cNvSpPr/>
          <p:nvPr/>
        </p:nvSpPr>
        <p:spPr>
          <a:xfrm>
            <a:off x="5793967" y="5268499"/>
            <a:ext cx="2881575" cy="954970"/>
          </a:xfrm>
          <a:prstGeom prst="wedgeRectCallout">
            <a:avLst>
              <a:gd name="adj1" fmla="val 49389"/>
              <a:gd name="adj2" fmla="val 711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Kiểm thử chính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12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SPAS - Smart Passive Attendance System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12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AI COURSE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=""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Đăng nhập và phân quyền</a:t>
            </a:r>
          </a:p>
          <a:p>
            <a:r>
              <a:t>Enrollment</a:t>
            </a:r>
          </a:p>
          <a:p>
            <a:r>
              <a:t>Known student</a:t>
            </a:r>
          </a:p>
          <a:p>
            <a:r>
              <a:t>UNKNOWN</a:t>
            </a:r>
          </a:p>
          <a:p>
            <a:r>
              <a:t>Trùng khuôn mặt</a:t>
            </a:r>
          </a:p>
          <a:p>
            <a:r>
              <a:t>Evidence và chỉnh sửa</a:t>
            </a:r>
          </a:p>
        </p:txBody>
      </p:sp>
      <p:sp>
        <p:nvSpPr>
          <p:cNvPr id="8" name="Speech Bubble: Rectangle 3">
            <a:extLst>
              <a:ext uri="{FF2B5EF4-FFF2-40B4-BE49-F238E27FC236}">
                <a16:creationId xmlns="" xmlns:a16="http://schemas.microsoft.com/office/drawing/2014/main" id="{E80EB278-3D10-47EF-9C4C-A281925E1178}"/>
              </a:ext>
            </a:extLst>
          </p:cNvPr>
          <p:cNvSpPr/>
          <p:nvPr/>
        </p:nvSpPr>
        <p:spPr>
          <a:xfrm>
            <a:off x="5793967" y="5268499"/>
            <a:ext cx="2881575" cy="954970"/>
          </a:xfrm>
          <a:prstGeom prst="wedgeRectCallout">
            <a:avLst>
              <a:gd name="adj1" fmla="val 49389"/>
              <a:gd name="adj2" fmla="val 711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Giới hạn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13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SPAS - Smart Passive Attendance System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13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AI COURSE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=""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Phụ thuộc ánh sáng, pose, blur và camera</a:t>
            </a:r>
          </a:p>
          <a:p>
            <a:r>
              <a:t>Threshold cần calibration</a:t>
            </a:r>
          </a:p>
          <a:p>
            <a:r>
              <a:t>Chưa kết luận về liveness</a:t>
            </a:r>
          </a:p>
          <a:p>
            <a:r>
              <a:t>Chưa đánh giá nhiều camera</a:t>
            </a:r>
          </a:p>
        </p:txBody>
      </p:sp>
      <p:sp>
        <p:nvSpPr>
          <p:cNvPr id="8" name="Speech Bubble: Rectangle 3">
            <a:extLst>
              <a:ext uri="{FF2B5EF4-FFF2-40B4-BE49-F238E27FC236}">
                <a16:creationId xmlns="" xmlns:a16="http://schemas.microsoft.com/office/drawing/2014/main" id="{E80EB278-3D10-47EF-9C4C-A281925E1178}"/>
              </a:ext>
            </a:extLst>
          </p:cNvPr>
          <p:cNvSpPr/>
          <p:nvPr/>
        </p:nvSpPr>
        <p:spPr>
          <a:xfrm>
            <a:off x="5793967" y="5268499"/>
            <a:ext cx="2881575" cy="954970"/>
          </a:xfrm>
          <a:prstGeom prst="wedgeRectCallout">
            <a:avLst>
              <a:gd name="adj1" fmla="val 49389"/>
              <a:gd name="adj2" fmla="val 711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Hướng phát triển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14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SPAS - Smart Passive Attendance System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14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AI COURSE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=""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Hoàn tất metric recognition độc lập</a:t>
            </a:r>
          </a:p>
          <a:p>
            <a:r>
              <a:t>Bổ sung dữ liệu camera thật</a:t>
            </a:r>
          </a:p>
          <a:p>
            <a:r>
              <a:t>Liveness và anti-spoofing</a:t>
            </a:r>
          </a:p>
          <a:p>
            <a:r>
              <a:t>Tracking, batching, multi-camera</a:t>
            </a:r>
          </a:p>
        </p:txBody>
      </p:sp>
      <p:sp>
        <p:nvSpPr>
          <p:cNvPr id="8" name="Speech Bubble: Rectangle 3">
            <a:extLst>
              <a:ext uri="{FF2B5EF4-FFF2-40B4-BE49-F238E27FC236}">
                <a16:creationId xmlns="" xmlns:a16="http://schemas.microsoft.com/office/drawing/2014/main" id="{E80EB278-3D10-47EF-9C4C-A281925E1178}"/>
              </a:ext>
            </a:extLst>
          </p:cNvPr>
          <p:cNvSpPr/>
          <p:nvPr/>
        </p:nvSpPr>
        <p:spPr>
          <a:xfrm>
            <a:off x="5793967" y="5268499"/>
            <a:ext cx="2881575" cy="954970"/>
          </a:xfrm>
          <a:prstGeom prst="wedgeRectCallout">
            <a:avLst>
              <a:gd name="adj1" fmla="val 49389"/>
              <a:gd name="adj2" fmla="val 711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Kết luận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SPAS - Smart Passive Attendance System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AI COURSE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=""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SPAS là pipeline AI end-to-end</a:t>
            </a:r>
          </a:p>
          <a:p>
            <a:r>
              <a:t>Detector và recognizer đánh giá riêng</a:t>
            </a:r>
          </a:p>
          <a:p>
            <a:r>
              <a:t>Kết quả vẫn có teacher review</a:t>
            </a:r>
          </a:p>
          <a:p>
            <a:r>
              <a:t>Model có thể thay thế độc lập</a:t>
            </a:r>
          </a:p>
        </p:txBody>
      </p:sp>
      <p:sp>
        <p:nvSpPr>
          <p:cNvPr id="8" name="Speech Bubble: Rectangle 3">
            <a:extLst>
              <a:ext uri="{FF2B5EF4-FFF2-40B4-BE49-F238E27FC236}">
                <a16:creationId xmlns="" xmlns:a16="http://schemas.microsoft.com/office/drawing/2014/main" id="{E80EB278-3D10-47EF-9C4C-A281925E1178}"/>
              </a:ext>
            </a:extLst>
          </p:cNvPr>
          <p:cNvSpPr/>
          <p:nvPr/>
        </p:nvSpPr>
        <p:spPr>
          <a:xfrm>
            <a:off x="5793967" y="5268499"/>
            <a:ext cx="2881575" cy="954970"/>
          </a:xfrm>
          <a:prstGeom prst="wedgeRectCallout">
            <a:avLst>
              <a:gd name="adj1" fmla="val 49389"/>
              <a:gd name="adj2" fmla="val 711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amsung">
      <a:majorFont>
        <a:latin typeface="Samsung Sharp Sans"/>
        <a:ea typeface="SamsungOneKorean 700"/>
        <a:cs typeface=""/>
      </a:majorFont>
      <a:minorFont>
        <a:latin typeface="SamsungOne 400"/>
        <a:ea typeface="SamsungOneKorean 400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4278</TotalTime>
  <Words>63</Words>
  <Application>Microsoft Office PowerPoint</Application>
  <PresentationFormat>사용자 지정</PresentationFormat>
  <Paragraphs>23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6" baseType="lpstr">
      <vt:lpstr>Samsung Sharp Sans Bold</vt:lpstr>
      <vt:lpstr>Samsung Sharp Sans</vt:lpstr>
      <vt:lpstr>SamsungOneKorean 400</vt:lpstr>
      <vt:lpstr>Arial</vt:lpstr>
      <vt:lpstr>맑은 고딕</vt:lpstr>
      <vt:lpstr>SamsungOne 700</vt:lpstr>
      <vt:lpstr>SamsungOne 400C</vt:lpstr>
      <vt:lpstr>Samsung Sharp Sans Medium</vt:lpstr>
      <vt:lpstr>Calibri</vt:lpstr>
      <vt:lpstr>SamsungOne 400</vt:lpstr>
      <vt:lpstr>Arial Unicode MS</vt:lpstr>
      <vt:lpstr>Office Theme</vt:lpstr>
      <vt:lpstr>Project Name</vt:lpstr>
      <vt:lpstr>PowerPoint 프레젠테이션</vt:lpstr>
      <vt:lpstr>Slide Title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Python</dc:title>
  <dc:creator>Soon Yong Chang</dc:creator>
  <cp:lastModifiedBy>Soomin Kim</cp:lastModifiedBy>
  <cp:revision>2077</cp:revision>
  <dcterms:created xsi:type="dcterms:W3CDTF">2019-07-06T14:12:49Z</dcterms:created>
  <dcterms:modified xsi:type="dcterms:W3CDTF">2023-09-04T22:55:03Z</dcterms:modified>
</cp:coreProperties>
</file>